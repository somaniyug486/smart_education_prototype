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8"/>
  </p:notesMasterIdLst>
  <p:sldIdLst>
    <p:sldId id="256" r:id="rId2"/>
    <p:sldId id="263" r:id="rId3"/>
    <p:sldId id="264" r:id="rId4"/>
    <p:sldId id="265" r:id="rId5"/>
    <p:sldId id="269" r:id="rId6"/>
    <p:sldId id="268" r:id="rId7"/>
  </p:sldIdLst>
  <p:sldSz cx="12192000" cy="6858000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Tw Cen MT" panose="020B0602020104020603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4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251210-CD8A-46B5-BE7A-CCDA5A2EA0E5}" v="27" dt="2025-12-26T12:12:00.256"/>
    <p1510:client id="{B42245F5-0EF0-47E3-ADB9-8FB0B0D54F7C}" v="6" dt="2025-12-26T12:36:57.8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 Thakkar" userId="6831b2d33c7a766f" providerId="LiveId" clId="{CCAAF18F-8F6C-4827-A842-21F49215D6DE}"/>
    <pc:docChg chg="undo custSel modSld">
      <pc:chgData name="Dev Thakkar" userId="6831b2d33c7a766f" providerId="LiveId" clId="{CCAAF18F-8F6C-4827-A842-21F49215D6DE}" dt="2025-12-26T12:37:04.121" v="54" actId="20577"/>
      <pc:docMkLst>
        <pc:docMk/>
      </pc:docMkLst>
      <pc:sldChg chg="modSp mod">
        <pc:chgData name="Dev Thakkar" userId="6831b2d33c7a766f" providerId="LiveId" clId="{CCAAF18F-8F6C-4827-A842-21F49215D6DE}" dt="2025-12-26T12:21:12.734" v="20" actId="20577"/>
        <pc:sldMkLst>
          <pc:docMk/>
          <pc:sldMk cId="0" sldId="256"/>
        </pc:sldMkLst>
        <pc:spChg chg="mod">
          <ac:chgData name="Dev Thakkar" userId="6831b2d33c7a766f" providerId="LiveId" clId="{CCAAF18F-8F6C-4827-A842-21F49215D6DE}" dt="2025-12-26T12:21:12.734" v="20" actId="20577"/>
          <ac:spMkLst>
            <pc:docMk/>
            <pc:sldMk cId="0" sldId="256"/>
            <ac:spMk id="94" creationId="{00000000-0000-0000-0000-000000000000}"/>
          </ac:spMkLst>
        </pc:spChg>
        <pc:spChg chg="mod">
          <ac:chgData name="Dev Thakkar" userId="6831b2d33c7a766f" providerId="LiveId" clId="{CCAAF18F-8F6C-4827-A842-21F49215D6DE}" dt="2025-12-26T12:20:58.026" v="3" actId="20577"/>
          <ac:spMkLst>
            <pc:docMk/>
            <pc:sldMk cId="0" sldId="256"/>
            <ac:spMk id="96" creationId="{00000000-0000-0000-0000-000000000000}"/>
          </ac:spMkLst>
        </pc:spChg>
        <pc:spChg chg="mod">
          <ac:chgData name="Dev Thakkar" userId="6831b2d33c7a766f" providerId="LiveId" clId="{CCAAF18F-8F6C-4827-A842-21F49215D6DE}" dt="2025-12-26T12:21:03.118" v="7" actId="20577"/>
          <ac:spMkLst>
            <pc:docMk/>
            <pc:sldMk cId="0" sldId="256"/>
            <ac:spMk id="98" creationId="{00000000-0000-0000-0000-000000000000}"/>
          </ac:spMkLst>
        </pc:spChg>
        <pc:spChg chg="mod">
          <ac:chgData name="Dev Thakkar" userId="6831b2d33c7a766f" providerId="LiveId" clId="{CCAAF18F-8F6C-4827-A842-21F49215D6DE}" dt="2025-12-26T12:20:57.722" v="2" actId="20577"/>
          <ac:spMkLst>
            <pc:docMk/>
            <pc:sldMk cId="0" sldId="256"/>
            <ac:spMk id="100" creationId="{00000000-0000-0000-0000-000000000000}"/>
          </ac:spMkLst>
        </pc:spChg>
      </pc:sldChg>
      <pc:sldChg chg="modSp mod">
        <pc:chgData name="Dev Thakkar" userId="6831b2d33c7a766f" providerId="LiveId" clId="{CCAAF18F-8F6C-4827-A842-21F49215D6DE}" dt="2025-12-26T12:33:38.160" v="43" actId="14100"/>
        <pc:sldMkLst>
          <pc:docMk/>
          <pc:sldMk cId="3920069906" sldId="264"/>
        </pc:sldMkLst>
        <pc:spChg chg="mod">
          <ac:chgData name="Dev Thakkar" userId="6831b2d33c7a766f" providerId="LiveId" clId="{CCAAF18F-8F6C-4827-A842-21F49215D6DE}" dt="2025-12-26T12:26:03.082" v="33" actId="1076"/>
          <ac:spMkLst>
            <pc:docMk/>
            <pc:sldMk cId="3920069906" sldId="264"/>
            <ac:spMk id="4" creationId="{E594299E-CDEA-AB4E-6FB9-53E237B49639}"/>
          </ac:spMkLst>
        </pc:spChg>
        <pc:spChg chg="mod">
          <ac:chgData name="Dev Thakkar" userId="6831b2d33c7a766f" providerId="LiveId" clId="{CCAAF18F-8F6C-4827-A842-21F49215D6DE}" dt="2025-12-26T12:24:58.682" v="23" actId="1076"/>
          <ac:spMkLst>
            <pc:docMk/>
            <pc:sldMk cId="3920069906" sldId="264"/>
            <ac:spMk id="8" creationId="{4B901AF7-E0E0-99E1-A1FD-02B6CABD7C80}"/>
          </ac:spMkLst>
        </pc:spChg>
        <pc:spChg chg="mod">
          <ac:chgData name="Dev Thakkar" userId="6831b2d33c7a766f" providerId="LiveId" clId="{CCAAF18F-8F6C-4827-A842-21F49215D6DE}" dt="2025-12-26T12:26:07.324" v="34" actId="1076"/>
          <ac:spMkLst>
            <pc:docMk/>
            <pc:sldMk cId="3920069906" sldId="264"/>
            <ac:spMk id="11" creationId="{59158429-01C2-8C2B-822A-ECC12FFBC689}"/>
          </ac:spMkLst>
        </pc:spChg>
        <pc:spChg chg="mod">
          <ac:chgData name="Dev Thakkar" userId="6831b2d33c7a766f" providerId="LiveId" clId="{CCAAF18F-8F6C-4827-A842-21F49215D6DE}" dt="2025-12-26T12:33:38.160" v="43" actId="14100"/>
          <ac:spMkLst>
            <pc:docMk/>
            <pc:sldMk cId="3920069906" sldId="264"/>
            <ac:spMk id="13" creationId="{0C040C09-6AAD-DAE5-72EE-AE95356D0865}"/>
          </ac:spMkLst>
        </pc:spChg>
      </pc:sldChg>
      <pc:sldChg chg="modSp mod">
        <pc:chgData name="Dev Thakkar" userId="6831b2d33c7a766f" providerId="LiveId" clId="{CCAAF18F-8F6C-4827-A842-21F49215D6DE}" dt="2025-12-26T12:34:03.383" v="44" actId="20577"/>
        <pc:sldMkLst>
          <pc:docMk/>
          <pc:sldMk cId="347978628" sldId="265"/>
        </pc:sldMkLst>
        <pc:spChg chg="mod">
          <ac:chgData name="Dev Thakkar" userId="6831b2d33c7a766f" providerId="LiveId" clId="{CCAAF18F-8F6C-4827-A842-21F49215D6DE}" dt="2025-12-26T12:34:03.383" v="44" actId="20577"/>
          <ac:spMkLst>
            <pc:docMk/>
            <pc:sldMk cId="347978628" sldId="265"/>
            <ac:spMk id="10" creationId="{94852BC6-37D5-5672-2A58-9BF989D69507}"/>
          </ac:spMkLst>
        </pc:spChg>
        <pc:spChg chg="mod">
          <ac:chgData name="Dev Thakkar" userId="6831b2d33c7a766f" providerId="LiveId" clId="{CCAAF18F-8F6C-4827-A842-21F49215D6DE}" dt="2025-12-26T12:32:34.610" v="37" actId="14100"/>
          <ac:spMkLst>
            <pc:docMk/>
            <pc:sldMk cId="347978628" sldId="265"/>
            <ac:spMk id="16" creationId="{6C02401C-8487-5F28-EC6D-9DCA5A8A2840}"/>
          </ac:spMkLst>
        </pc:spChg>
      </pc:sldChg>
      <pc:sldChg chg="addSp modSp mod">
        <pc:chgData name="Dev Thakkar" userId="6831b2d33c7a766f" providerId="LiveId" clId="{CCAAF18F-8F6C-4827-A842-21F49215D6DE}" dt="2025-12-26T12:37:04.121" v="54" actId="20577"/>
        <pc:sldMkLst>
          <pc:docMk/>
          <pc:sldMk cId="411197279" sldId="269"/>
        </pc:sldMkLst>
        <pc:spChg chg="add">
          <ac:chgData name="Dev Thakkar" userId="6831b2d33c7a766f" providerId="LiveId" clId="{CCAAF18F-8F6C-4827-A842-21F49215D6DE}" dt="2025-12-26T12:36:51.964" v="50"/>
          <ac:spMkLst>
            <pc:docMk/>
            <pc:sldMk cId="411197279" sldId="269"/>
            <ac:spMk id="4" creationId="{D6607CCC-FE87-CDFD-293F-ACB95A647788}"/>
          </ac:spMkLst>
        </pc:spChg>
        <pc:spChg chg="mod">
          <ac:chgData name="Dev Thakkar" userId="6831b2d33c7a766f" providerId="LiveId" clId="{CCAAF18F-8F6C-4827-A842-21F49215D6DE}" dt="2025-12-26T12:37:04.121" v="54" actId="20577"/>
          <ac:spMkLst>
            <pc:docMk/>
            <pc:sldMk cId="411197279" sldId="269"/>
            <ac:spMk id="8" creationId="{0C14518D-7CCF-9A9F-5E55-66E822556E2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578D6A16-E2B1-8A80-3C29-D9CAA3960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B2931376-7A21-18D1-2C6C-2131BE4AC2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0E8E229F-2477-AB4B-8871-E6F803BBDF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29709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5C2016C3-DBDA-2B7B-7C1B-780F3F661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8548AD2E-73CE-6DE1-DD24-AF4710E661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86394F41-E985-36DF-332A-7E86951214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40828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2A2E15DD-02CE-B54D-67B6-3B0DE6383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036A0336-B607-FA12-F75D-55BA663AB3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19133586-F581-AFA2-5B62-8AC70E2257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28243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9FEE3195-56F7-8343-D63E-B89746AC0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B9AFF6D7-F027-1F73-07E7-D641884F73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D5474F63-F8C0-151D-2CDC-5F4D78E546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3093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3AB4CEC5-E597-3EA1-7B81-7E9AB6CA8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977FF6AD-2CE0-BEEB-555D-1D01B2DB58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5A3F40FE-E78C-A03A-EFB1-A8332BFBBE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5278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993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14051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326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92480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79101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273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220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3589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982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62767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924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937715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74630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53971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2951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03650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25679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937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"/>
          <p:cNvPicPr preferRelativeResize="0"/>
          <p:nvPr/>
        </p:nvPicPr>
        <p:blipFill>
          <a:blip r:embed="rId3">
            <a:alphaModFix amt="7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1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238500" y="1643061"/>
            <a:ext cx="5715000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-1"/>
            <a:ext cx="12192000" cy="1209675"/>
          </a:xfrm>
          <a:prstGeom prst="rect">
            <a:avLst/>
          </a:prstGeom>
          <a:solidFill>
            <a:schemeClr val="tx2"/>
          </a:solidFill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10813053" y="6543675"/>
            <a:ext cx="1309277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HACK THE GAP</a:t>
            </a:r>
            <a:r>
              <a:rPr lang="en-US" sz="1050" b="1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2026</a:t>
            </a:r>
            <a:endParaRPr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295275" y="1781175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58220"/>
                </a:solidFill>
                <a:latin typeface="Roboto"/>
                <a:ea typeface="Roboto"/>
                <a:cs typeface="Roboto"/>
                <a:sym typeface="Roboto"/>
              </a:rPr>
              <a:t>TITLE PAGE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1809750" y="2705100"/>
            <a:ext cx="85725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800" b="1" i="0" u="none" strike="noStrike" cap="none" dirty="0">
                <a:solidFill>
                  <a:srgbClr val="23346D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r>
              <a:rPr lang="en-US" b="1" dirty="0">
                <a:solidFill>
                  <a:srgbClr val="23346D"/>
                </a:solidFill>
                <a:latin typeface="Roboto"/>
                <a:ea typeface="Roboto"/>
                <a:cs typeface="Roboto"/>
                <a:sym typeface="Roboto"/>
              </a:rPr>
              <a:t> Team Name	</a:t>
            </a:r>
            <a:r>
              <a:rPr lang="en-US" b="1">
                <a:solidFill>
                  <a:srgbClr val="23346D"/>
                </a:solidFill>
                <a:latin typeface="Roboto"/>
                <a:ea typeface="Roboto"/>
                <a:cs typeface="Roboto"/>
                <a:sym typeface="Roboto"/>
              </a:rPr>
              <a:t>		    : </a:t>
            </a:r>
            <a:endParaRPr dirty="0"/>
          </a:p>
        </p:txBody>
      </p:sp>
      <p:sp>
        <p:nvSpPr>
          <p:cNvPr id="95" name="Google Shape;95;p13"/>
          <p:cNvSpPr/>
          <p:nvPr/>
        </p:nvSpPr>
        <p:spPr>
          <a:xfrm>
            <a:off x="1809750" y="3067050"/>
            <a:ext cx="8572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1809749" y="3219450"/>
            <a:ext cx="930742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23346D"/>
                </a:solidFill>
                <a:latin typeface="Roboto"/>
                <a:ea typeface="Roboto"/>
                <a:cs typeface="Roboto"/>
                <a:sym typeface="Roboto"/>
              </a:rPr>
              <a:t>• Problem Statement Title	    :	Low-Bandwidth Smart Education platform for rural Areas</a:t>
            </a:r>
            <a:endParaRPr lang="en-US" dirty="0"/>
          </a:p>
        </p:txBody>
      </p:sp>
      <p:sp>
        <p:nvSpPr>
          <p:cNvPr id="97" name="Google Shape;97;p13"/>
          <p:cNvSpPr/>
          <p:nvPr/>
        </p:nvSpPr>
        <p:spPr>
          <a:xfrm>
            <a:off x="1809750" y="3581400"/>
            <a:ext cx="8572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1809750" y="3733800"/>
            <a:ext cx="85725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23346D"/>
                </a:solidFill>
                <a:latin typeface="Roboto"/>
                <a:ea typeface="Roboto"/>
                <a:cs typeface="Roboto"/>
                <a:sym typeface="Roboto"/>
              </a:rPr>
              <a:t>• Theme                                     :	Smart Education</a:t>
            </a:r>
            <a:endParaRPr dirty="0"/>
          </a:p>
        </p:txBody>
      </p:sp>
      <p:sp>
        <p:nvSpPr>
          <p:cNvPr id="99" name="Google Shape;99;p13"/>
          <p:cNvSpPr/>
          <p:nvPr/>
        </p:nvSpPr>
        <p:spPr>
          <a:xfrm>
            <a:off x="1809750" y="4095750"/>
            <a:ext cx="8572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1809750" y="4248150"/>
            <a:ext cx="85725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23346D"/>
                </a:solidFill>
                <a:latin typeface="Roboto"/>
                <a:ea typeface="Roboto"/>
                <a:cs typeface="Roboto"/>
                <a:sym typeface="Roboto"/>
              </a:rPr>
              <a:t>• Category				    :	Web Application</a:t>
            </a:r>
            <a:endParaRPr dirty="0"/>
          </a:p>
        </p:txBody>
      </p:sp>
      <p:sp>
        <p:nvSpPr>
          <p:cNvPr id="101" name="Google Shape;101;p13"/>
          <p:cNvSpPr/>
          <p:nvPr/>
        </p:nvSpPr>
        <p:spPr>
          <a:xfrm>
            <a:off x="1809750" y="4610100"/>
            <a:ext cx="8572500" cy="9525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986906-264A-2600-DE15-06849D0D71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70" y="6384065"/>
            <a:ext cx="1304923" cy="4739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F3319D-D3A6-BA11-208E-A7AF106702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" y="49484"/>
            <a:ext cx="2024743" cy="1096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5B7BAF-E8B4-C2B0-37E0-901866D33C4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61298" y="16065"/>
            <a:ext cx="1830702" cy="10960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598B1F1-E8F2-CB1A-6648-FE1D2CF187A1}"/>
              </a:ext>
            </a:extLst>
          </p:cNvPr>
          <p:cNvSpPr txBox="1"/>
          <p:nvPr/>
        </p:nvSpPr>
        <p:spPr>
          <a:xfrm>
            <a:off x="2612571" y="274320"/>
            <a:ext cx="67926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23346D"/>
                </a:solidFill>
              </a:rPr>
              <a:t>HACK THE GAP 2026</a:t>
            </a:r>
            <a:endParaRPr lang="en-IN" sz="5400" b="1" dirty="0">
              <a:solidFill>
                <a:srgbClr val="23346D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A8D392A6-94BC-5B93-7277-1CE83FD26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">
            <a:extLst>
              <a:ext uri="{FF2B5EF4-FFF2-40B4-BE49-F238E27FC236}">
                <a16:creationId xmlns:a16="http://schemas.microsoft.com/office/drawing/2014/main" id="{70D660AE-4374-9860-E551-8AD4FC134BF3}"/>
              </a:ext>
            </a:extLst>
          </p:cNvPr>
          <p:cNvPicPr preferRelativeResize="0"/>
          <p:nvPr/>
        </p:nvPicPr>
        <p:blipFill>
          <a:blip r:embed="rId3">
            <a:alphaModFix amt="7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1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238500" y="1643061"/>
            <a:ext cx="5715000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D37FCC2A-DB4E-FE39-3B16-ACFCAC603B2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-1"/>
            <a:ext cx="12192000" cy="127469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>
            <a:extLst>
              <a:ext uri="{FF2B5EF4-FFF2-40B4-BE49-F238E27FC236}">
                <a16:creationId xmlns:a16="http://schemas.microsoft.com/office/drawing/2014/main" id="{3913ED85-B068-B4DB-862E-5BD58932670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F16C5BED-0548-5193-17D4-2C2EE824BBAA}"/>
              </a:ext>
            </a:extLst>
          </p:cNvPr>
          <p:cNvSpPr txBox="1"/>
          <p:nvPr/>
        </p:nvSpPr>
        <p:spPr>
          <a:xfrm>
            <a:off x="10813053" y="6543675"/>
            <a:ext cx="1309277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HACK THE GAP</a:t>
            </a:r>
            <a:r>
              <a:rPr lang="en-US" sz="1050" b="1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2026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F4F7F1-7D68-28F6-BA07-554C54D7A1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70" y="6384065"/>
            <a:ext cx="1304923" cy="4739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DFAEA0-9ED8-8040-E0C2-16942D5538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" y="49484"/>
            <a:ext cx="2024743" cy="1096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0CB96B-DF0E-BF78-411F-76F4904B9B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61298" y="16065"/>
            <a:ext cx="1830702" cy="10960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CDC4522-49FB-02DD-67C3-49D609DFEAD8}"/>
              </a:ext>
            </a:extLst>
          </p:cNvPr>
          <p:cNvSpPr txBox="1"/>
          <p:nvPr/>
        </p:nvSpPr>
        <p:spPr>
          <a:xfrm>
            <a:off x="1701931" y="-85929"/>
            <a:ext cx="878813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23346D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Low-Bandwidth Smart Education platform </a:t>
            </a:r>
            <a:endParaRPr lang="en-IN" sz="4400" dirty="0">
              <a:solidFill>
                <a:srgbClr val="23346D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236228-A664-B985-F313-C298FD7CD8F8}"/>
              </a:ext>
            </a:extLst>
          </p:cNvPr>
          <p:cNvSpPr txBox="1"/>
          <p:nvPr/>
        </p:nvSpPr>
        <p:spPr>
          <a:xfrm>
            <a:off x="722131" y="1643061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200" b="1" dirty="0">
                <a:solidFill>
                  <a:srgbClr val="2334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9DA092-EF51-0A5C-F376-187A285D8F24}"/>
              </a:ext>
            </a:extLst>
          </p:cNvPr>
          <p:cNvSpPr txBox="1"/>
          <p:nvPr/>
        </p:nvSpPr>
        <p:spPr>
          <a:xfrm>
            <a:off x="722131" y="2193349"/>
            <a:ext cx="731329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Rural students face poor and unstable internet connectivity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platforms like Google Meet and Zoom require high bandwidth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education becomes inaccessible in low-network areas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 lack a unified, lightweight digital teaching platform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miss learning opportunities due to technical limitations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F55B2F-6A02-FB36-6719-91752BEE0C26}"/>
              </a:ext>
            </a:extLst>
          </p:cNvPr>
          <p:cNvSpPr txBox="1"/>
          <p:nvPr/>
        </p:nvSpPr>
        <p:spPr>
          <a:xfrm>
            <a:off x="722131" y="4145183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200" b="1" dirty="0">
                <a:solidFill>
                  <a:srgbClr val="2334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This Is Important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25A9F9-D92C-321D-C41A-3714B836AE19}"/>
              </a:ext>
            </a:extLst>
          </p:cNvPr>
          <p:cNvSpPr txBox="1"/>
          <p:nvPr/>
        </p:nvSpPr>
        <p:spPr>
          <a:xfrm>
            <a:off x="722131" y="4692356"/>
            <a:ext cx="73132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Growing education inequality between urban and rural areas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divide negatively impacts student performance and learning continuity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316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0F39BD27-C2FF-920B-F8BC-747513034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">
            <a:extLst>
              <a:ext uri="{FF2B5EF4-FFF2-40B4-BE49-F238E27FC236}">
                <a16:creationId xmlns:a16="http://schemas.microsoft.com/office/drawing/2014/main" id="{93138E74-53A5-FAFD-EC80-34CA15501B14}"/>
              </a:ext>
            </a:extLst>
          </p:cNvPr>
          <p:cNvPicPr preferRelativeResize="0"/>
          <p:nvPr/>
        </p:nvPicPr>
        <p:blipFill>
          <a:blip r:embed="rId3">
            <a:alphaModFix amt="7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1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238500" y="1643061"/>
            <a:ext cx="5715000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D988F2C5-43AB-3687-1F93-303E70A6099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-1"/>
            <a:ext cx="121920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>
            <a:extLst>
              <a:ext uri="{FF2B5EF4-FFF2-40B4-BE49-F238E27FC236}">
                <a16:creationId xmlns:a16="http://schemas.microsoft.com/office/drawing/2014/main" id="{90AC2811-A898-5E9D-878B-A0724AAE07E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8D93C7D6-9D69-2126-1C4F-E3497966A420}"/>
              </a:ext>
            </a:extLst>
          </p:cNvPr>
          <p:cNvSpPr txBox="1"/>
          <p:nvPr/>
        </p:nvSpPr>
        <p:spPr>
          <a:xfrm>
            <a:off x="10813053" y="6543675"/>
            <a:ext cx="1309277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HACK THE GAP</a:t>
            </a:r>
            <a:r>
              <a:rPr lang="en-US" sz="1050" b="1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2026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0CAE9A-9A94-5F48-1AAE-16141D09CB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70" y="6384065"/>
            <a:ext cx="1304923" cy="4739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23DDF4-35CA-EB07-9206-48E358C889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" y="49484"/>
            <a:ext cx="2024743" cy="1096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04675C-B4B4-44C1-96B4-ABDAD7AA86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61298" y="16065"/>
            <a:ext cx="1830702" cy="10960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F68645F-9D4D-023E-E5ED-5902DC7BC640}"/>
              </a:ext>
            </a:extLst>
          </p:cNvPr>
          <p:cNvSpPr txBox="1"/>
          <p:nvPr/>
        </p:nvSpPr>
        <p:spPr>
          <a:xfrm>
            <a:off x="2024742" y="274320"/>
            <a:ext cx="83365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23346D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  <a:endParaRPr lang="en-IN" sz="4800" dirty="0">
              <a:solidFill>
                <a:srgbClr val="23346D"/>
              </a:solidFill>
            </a:endParaRP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E594299E-CDEA-AB4E-6FB9-53E237B49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778" y="1503024"/>
            <a:ext cx="12122330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algn="just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IN" sz="2200" b="1" dirty="0">
                <a:solidFill>
                  <a:srgbClr val="2334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to be Used</a:t>
            </a:r>
            <a:endParaRPr lang="en-US" sz="2200" b="1" dirty="0">
              <a:solidFill>
                <a:srgbClr val="23346D"/>
              </a:solidFill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901AF7-E0E0-99E1-A1FD-02B6CABD7C80}"/>
              </a:ext>
            </a:extLst>
          </p:cNvPr>
          <p:cNvSpPr txBox="1"/>
          <p:nvPr/>
        </p:nvSpPr>
        <p:spPr>
          <a:xfrm>
            <a:off x="721778" y="2189315"/>
            <a:ext cx="642046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CSS, JavaScript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PHP / Node.js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 Optimization: Compressed files, lazy loading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158429-01C2-8C2B-822A-ECC12FFBC689}"/>
              </a:ext>
            </a:extLst>
          </p:cNvPr>
          <p:cNvSpPr txBox="1"/>
          <p:nvPr/>
        </p:nvSpPr>
        <p:spPr>
          <a:xfrm>
            <a:off x="721778" y="3706717"/>
            <a:ext cx="642046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IN" sz="2200" b="1" dirty="0">
                <a:solidFill>
                  <a:srgbClr val="2334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for Implementation</a:t>
            </a:r>
            <a:endParaRPr lang="en-US" sz="2200" b="1" dirty="0">
              <a:solidFill>
                <a:srgbClr val="23346D"/>
              </a:solidFill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040C09-6AAD-DAE5-72EE-AE95356D0865}"/>
              </a:ext>
            </a:extLst>
          </p:cNvPr>
          <p:cNvSpPr txBox="1"/>
          <p:nvPr/>
        </p:nvSpPr>
        <p:spPr>
          <a:xfrm>
            <a:off x="721778" y="4454677"/>
            <a:ext cx="62984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login system (Faculty &amp; Student)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dashboards optimized for low bandwidth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Faculty-only video streaming during live classes to reduce overall bandwidth usage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Downloadable study materials for offline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communication using text and data </a:t>
            </a:r>
          </a:p>
        </p:txBody>
      </p:sp>
    </p:spTree>
    <p:extLst>
      <p:ext uri="{BB962C8B-B14F-4D97-AF65-F5344CB8AC3E}">
        <p14:creationId xmlns:p14="http://schemas.microsoft.com/office/powerpoint/2010/main" val="3920069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054F243A-DC89-2118-AD3A-ECDC6294D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">
            <a:extLst>
              <a:ext uri="{FF2B5EF4-FFF2-40B4-BE49-F238E27FC236}">
                <a16:creationId xmlns:a16="http://schemas.microsoft.com/office/drawing/2014/main" id="{9CE0D8F9-CA68-7BFB-A832-F4CB701143EE}"/>
              </a:ext>
            </a:extLst>
          </p:cNvPr>
          <p:cNvPicPr preferRelativeResize="0"/>
          <p:nvPr/>
        </p:nvPicPr>
        <p:blipFill>
          <a:blip r:embed="rId3">
            <a:alphaModFix amt="7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1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238500" y="1643061"/>
            <a:ext cx="5715000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D937711A-9380-DBFA-794D-DF8C669B5A4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-1"/>
            <a:ext cx="121920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>
            <a:extLst>
              <a:ext uri="{FF2B5EF4-FFF2-40B4-BE49-F238E27FC236}">
                <a16:creationId xmlns:a16="http://schemas.microsoft.com/office/drawing/2014/main" id="{38B0FFB6-408C-F4A6-4088-A2764D7CFAC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BCE9EF9C-7978-FDA4-2802-35D9AA03C93F}"/>
              </a:ext>
            </a:extLst>
          </p:cNvPr>
          <p:cNvSpPr txBox="1"/>
          <p:nvPr/>
        </p:nvSpPr>
        <p:spPr>
          <a:xfrm>
            <a:off x="10813053" y="6543675"/>
            <a:ext cx="1309277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HACK THE GAP</a:t>
            </a:r>
            <a:r>
              <a:rPr lang="en-US" sz="1050" b="1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2026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0115EE-5B53-ABE0-A742-781316CB94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70" y="6384065"/>
            <a:ext cx="1304923" cy="4739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FF370D-58FD-6BB1-2D3A-402D8C5BDF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" y="49484"/>
            <a:ext cx="2024743" cy="1096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B0023F-BC03-FCB0-A72D-666A4BC4AD1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61298" y="16065"/>
            <a:ext cx="1830702" cy="10960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2914ED-DF48-7770-321F-A1DC8B177BE5}"/>
              </a:ext>
            </a:extLst>
          </p:cNvPr>
          <p:cNvSpPr txBox="1"/>
          <p:nvPr/>
        </p:nvSpPr>
        <p:spPr>
          <a:xfrm>
            <a:off x="2024742" y="274320"/>
            <a:ext cx="83365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23346D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  <a:endParaRPr lang="en-IN" sz="4400" dirty="0">
              <a:solidFill>
                <a:srgbClr val="23346D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3F91EB-BB99-12E1-3E4D-200FB478B68D}"/>
              </a:ext>
            </a:extLst>
          </p:cNvPr>
          <p:cNvSpPr txBox="1"/>
          <p:nvPr/>
        </p:nvSpPr>
        <p:spPr>
          <a:xfrm>
            <a:off x="722131" y="1434510"/>
            <a:ext cx="611566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200" b="1" dirty="0">
                <a:solidFill>
                  <a:srgbClr val="2334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852BC6-37D5-5672-2A58-9BF989D69507}"/>
              </a:ext>
            </a:extLst>
          </p:cNvPr>
          <p:cNvSpPr txBox="1"/>
          <p:nvPr/>
        </p:nvSpPr>
        <p:spPr>
          <a:xfrm>
            <a:off x="731963" y="1943023"/>
            <a:ext cx="68039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basic and widely supported web technologies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on slow internet connections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development and maintenance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deployment in rural schools and colleges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A86472-AE16-8AC8-2CEB-6BEF9D43F2E9}"/>
              </a:ext>
            </a:extLst>
          </p:cNvPr>
          <p:cNvSpPr txBox="1"/>
          <p:nvPr/>
        </p:nvSpPr>
        <p:spPr>
          <a:xfrm>
            <a:off x="712299" y="3228175"/>
            <a:ext cx="611566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200" b="1" dirty="0">
                <a:solidFill>
                  <a:srgbClr val="2334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 Challenges and Risks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8ABCDE-C266-83C8-43D2-8EAB16E866D7}"/>
              </a:ext>
            </a:extLst>
          </p:cNvPr>
          <p:cNvSpPr txBox="1"/>
          <p:nvPr/>
        </p:nvSpPr>
        <p:spPr>
          <a:xfrm>
            <a:off x="731963" y="4457914"/>
            <a:ext cx="611566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200" b="1" dirty="0">
                <a:solidFill>
                  <a:srgbClr val="2334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Strategies to Overcome Challenges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412687-025D-A954-8232-ABD37811E722}"/>
              </a:ext>
            </a:extLst>
          </p:cNvPr>
          <p:cNvSpPr txBox="1"/>
          <p:nvPr/>
        </p:nvSpPr>
        <p:spPr>
          <a:xfrm>
            <a:off x="712299" y="373767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Extremely low or unstable internet connectivity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digital awareness among rural users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02401C-8487-5F28-EC6D-9DCA5A8A2840}"/>
              </a:ext>
            </a:extLst>
          </p:cNvPr>
          <p:cNvSpPr txBox="1"/>
          <p:nvPr/>
        </p:nvSpPr>
        <p:spPr>
          <a:xfrm>
            <a:off x="712298" y="4962705"/>
            <a:ext cx="964899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access to learning materials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user-friendly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dependency on video content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and audio-based interaction focus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AI chatbot to guide students, answer basic queries, and provide learning support using minimal data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78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C4ECBB09-B57C-B599-BAB7-BF6E2A8AE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">
            <a:extLst>
              <a:ext uri="{FF2B5EF4-FFF2-40B4-BE49-F238E27FC236}">
                <a16:creationId xmlns:a16="http://schemas.microsoft.com/office/drawing/2014/main" id="{9864B993-2FA4-95DA-BFCE-2B7D7AD585B3}"/>
              </a:ext>
            </a:extLst>
          </p:cNvPr>
          <p:cNvPicPr preferRelativeResize="0"/>
          <p:nvPr/>
        </p:nvPicPr>
        <p:blipFill>
          <a:blip r:embed="rId3">
            <a:alphaModFix amt="7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1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238500" y="1643061"/>
            <a:ext cx="5715000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B550976B-B82E-9EFA-9B1E-0F896677112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-1"/>
            <a:ext cx="121920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>
            <a:extLst>
              <a:ext uri="{FF2B5EF4-FFF2-40B4-BE49-F238E27FC236}">
                <a16:creationId xmlns:a16="http://schemas.microsoft.com/office/drawing/2014/main" id="{1FE8F7E5-FA07-2072-39B4-9ED79B56FD6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B54143D0-F7B4-0974-5DD6-FE40559E0323}"/>
              </a:ext>
            </a:extLst>
          </p:cNvPr>
          <p:cNvSpPr txBox="1"/>
          <p:nvPr/>
        </p:nvSpPr>
        <p:spPr>
          <a:xfrm>
            <a:off x="10813053" y="6543675"/>
            <a:ext cx="1309277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/>
                <a:ea typeface="Roboto"/>
                <a:cs typeface="Roboto"/>
                <a:sym typeface="Roboto"/>
              </a:rPr>
              <a:t>HACK THE GAP 2026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E0A12E-06DA-E858-F869-7F33F0F440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70" y="6384065"/>
            <a:ext cx="1304923" cy="4739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569E907-246E-0A93-B13B-C13604A19A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" y="49484"/>
            <a:ext cx="2024743" cy="1096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D28C30-779D-DD6D-26EB-849D0483C2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61298" y="16065"/>
            <a:ext cx="1830702" cy="10960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2981ECF-71F5-6B9E-E28C-8579939C493C}"/>
              </a:ext>
            </a:extLst>
          </p:cNvPr>
          <p:cNvSpPr txBox="1"/>
          <p:nvPr/>
        </p:nvSpPr>
        <p:spPr>
          <a:xfrm>
            <a:off x="2024742" y="274320"/>
            <a:ext cx="83365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23346D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FUTURE ENHANCEMENTS</a:t>
            </a:r>
            <a:endParaRPr kumimoji="0" lang="en-IN" sz="4000" b="1" i="0" u="none" strike="noStrike" kern="1200" cap="none" spc="0" normalizeH="0" baseline="0" noProof="0" dirty="0">
              <a:ln>
                <a:noFill/>
              </a:ln>
              <a:solidFill>
                <a:srgbClr val="23346D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14518D-7CCF-9A9F-5E55-66E822556E2D}"/>
              </a:ext>
            </a:extLst>
          </p:cNvPr>
          <p:cNvSpPr txBox="1"/>
          <p:nvPr/>
        </p:nvSpPr>
        <p:spPr>
          <a:xfrm>
            <a:off x="722131" y="1818571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AI-based personalized learning recommendations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Regional and local language support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Integration with government education portals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Progressive Web App (PWA) support for offline usage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Screen presentation feature for faculty during live classes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Live class recording for later viewing and revision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197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3FF3E0D5-0E6B-88A6-C1B6-C50BFA134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3">
            <a:extLst>
              <a:ext uri="{FF2B5EF4-FFF2-40B4-BE49-F238E27FC236}">
                <a16:creationId xmlns:a16="http://schemas.microsoft.com/office/drawing/2014/main" id="{4691882B-E567-E6B9-7D23-22137F2AA0AC}"/>
              </a:ext>
            </a:extLst>
          </p:cNvPr>
          <p:cNvPicPr preferRelativeResize="0"/>
          <p:nvPr/>
        </p:nvPicPr>
        <p:blipFill>
          <a:blip r:embed="rId3">
            <a:alphaModFix amt="7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1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3238500" y="1643061"/>
            <a:ext cx="5715000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3" descr="image.png">
            <a:extLst>
              <a:ext uri="{FF2B5EF4-FFF2-40B4-BE49-F238E27FC236}">
                <a16:creationId xmlns:a16="http://schemas.microsoft.com/office/drawing/2014/main" id="{F966B240-8A84-5A65-10F7-2FE5ED80617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-1"/>
            <a:ext cx="1219200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>
            <a:extLst>
              <a:ext uri="{FF2B5EF4-FFF2-40B4-BE49-F238E27FC236}">
                <a16:creationId xmlns:a16="http://schemas.microsoft.com/office/drawing/2014/main" id="{BA86CC5E-CBB3-E6AD-CCEA-A6493DC64B3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6381750"/>
            <a:ext cx="121920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B8BCA872-B4C4-DCC1-F7DD-421A3F758A1F}"/>
              </a:ext>
            </a:extLst>
          </p:cNvPr>
          <p:cNvSpPr txBox="1"/>
          <p:nvPr/>
        </p:nvSpPr>
        <p:spPr>
          <a:xfrm>
            <a:off x="10813053" y="6543675"/>
            <a:ext cx="1309277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HACK THE GAP</a:t>
            </a:r>
            <a:r>
              <a:rPr lang="en-US" sz="1050" b="1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2026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751259-985A-A224-F58E-84C0CD1DD7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70" y="6384065"/>
            <a:ext cx="1304923" cy="4739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4F55DA-1C73-F75C-856A-07177A702D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" y="49484"/>
            <a:ext cx="2024743" cy="1096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AF9C89-095D-2B5A-23A1-C764A0B98EB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61298" y="16065"/>
            <a:ext cx="1830702" cy="10960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888E684-AF36-618A-1C26-5AA2F4EBE00B}"/>
              </a:ext>
            </a:extLst>
          </p:cNvPr>
          <p:cNvSpPr txBox="1"/>
          <p:nvPr/>
        </p:nvSpPr>
        <p:spPr>
          <a:xfrm>
            <a:off x="2024742" y="274320"/>
            <a:ext cx="83365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2334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000" b="1" dirty="0">
              <a:solidFill>
                <a:srgbClr val="23346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C0A268-C393-0D4F-5890-531D95531B22}"/>
              </a:ext>
            </a:extLst>
          </p:cNvPr>
          <p:cNvSpPr txBox="1"/>
          <p:nvPr/>
        </p:nvSpPr>
        <p:spPr>
          <a:xfrm>
            <a:off x="722131" y="2312303"/>
            <a:ext cx="658323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Bridges the digital education gap in rural areas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inclusive and continuous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teachers with simplified digital teaching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dependency on high-bandwidth platforms like Zoom and Google Meet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153E62-FB3A-016A-9376-A614D01FA591}"/>
              </a:ext>
            </a:extLst>
          </p:cNvPr>
          <p:cNvSpPr txBox="1"/>
          <p:nvPr/>
        </p:nvSpPr>
        <p:spPr>
          <a:xfrm>
            <a:off x="722131" y="1715503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200" b="1" dirty="0">
                <a:solidFill>
                  <a:srgbClr val="2334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92386A-FF98-4681-E3C2-34F390146F97}"/>
              </a:ext>
            </a:extLst>
          </p:cNvPr>
          <p:cNvSpPr txBox="1"/>
          <p:nvPr/>
        </p:nvSpPr>
        <p:spPr>
          <a:xfrm>
            <a:off x="722130" y="3863348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200" b="1" dirty="0">
                <a:solidFill>
                  <a:srgbClr val="23346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DD1741-3555-4FBE-C2C2-444B203E51BA}"/>
              </a:ext>
            </a:extLst>
          </p:cNvPr>
          <p:cNvSpPr txBox="1"/>
          <p:nvPr/>
        </p:nvSpPr>
        <p:spPr>
          <a:xfrm>
            <a:off x="722130" y="4476272"/>
            <a:ext cx="675844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access to quality education for rural students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effectively despite limited or unstable internet connectivity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learning barriers caused by low bandwidth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equal learning opportunities for all students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inclusive and continuous education in rural areas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94292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133</TotalTime>
  <Words>410</Words>
  <Application>Microsoft Office PowerPoint</Application>
  <PresentationFormat>Widescreen</PresentationFormat>
  <Paragraphs>73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Wingdings</vt:lpstr>
      <vt:lpstr>Tw Cen MT</vt:lpstr>
      <vt:lpstr>Roboto</vt:lpstr>
      <vt:lpstr>Times New Roman</vt:lpstr>
      <vt:lpstr>Calibri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Dev</dc:creator>
  <cp:lastModifiedBy>Dev Thakkar</cp:lastModifiedBy>
  <cp:revision>8</cp:revision>
  <dcterms:modified xsi:type="dcterms:W3CDTF">2025-12-26T12:37:07Z</dcterms:modified>
</cp:coreProperties>
</file>